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No leerla. Arrancar directamente con la pregunta del problema.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frase que resume todo. Dejar que la lean. No agregar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Preguntarle: en el último mes, ¿cuántos vecinos le plantearon algo? Y después: ¿dónde está anotado? Dejar que conteste.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es el dato que hace que el momento sea bueno. No hace falta inventar un problema: está documentado.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Nombrar usted primero lo que Morón ya tiene. Eso desarma la objeción antes de que llegue.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Ocho pasos. Todos con una planilla y una hoja. No hay que comprar ni programar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etapa cierra con un producto entregado. Si un hito no se cumple, se ve enseguida.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poco trabajo y es todos los días. Ese es el punto.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Todo queda en poder del despacho, en formatos abiertos, aunque el programa no siga.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puntaje sugiere el orden. La última palabra es de la concejala, y esa decisión queda escrita.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Ninguno requiere formación técnica. Todos salen de contar filas de una planilla.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Sacar este tema usted, antes de que se lo pregunten. Es el mejor argumento del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en voz alta que el piloto puede fracasar. Es lo que más credibilidad 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Empezar por la mínima. No pedir nada más hoy.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 un diagnóstico de prensa, no un estudio. Sirve como punto de partida, no como conclusión.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mensaje suelto se convirtió en un dato, el dato mostró un patrón, y el patrón terminó en un expediente.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Decir el pedido y callarse. Dejar que hable ella.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96012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6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PARTIDO DE MORÓN · PROVINCIA DE BUENOS AIRES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9960559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Piloto de Registro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Seguimiento de Propuestas Vecinales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66928" y="3154680"/>
            <a:ext cx="9046159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Noventa días para ordenar lo que llega al despacho y convertirlo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B9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pedidos, proyectos y respuestas verificables.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4114800"/>
            <a:ext cx="1371600" cy="68580"/>
          </a:xfrm>
          <a:prstGeom prst="rect">
            <a:avLst/>
          </a:prstGeom>
          <a:solidFill>
            <a:srgbClr val="2E68AE"/>
          </a:solidFill>
          <a:ln/>
        </p:spPr>
      </p:sp>
      <p:sp>
        <p:nvSpPr>
          <p:cNvPr id="6" name="Shape 4"/>
          <p:cNvSpPr/>
          <p:nvPr/>
        </p:nvSpPr>
        <p:spPr>
          <a:xfrm>
            <a:off x="1938528" y="4114800"/>
            <a:ext cx="914400" cy="68580"/>
          </a:xfrm>
          <a:prstGeom prst="rect">
            <a:avLst/>
          </a:prstGeom>
          <a:solidFill>
            <a:srgbClr val="C46B16"/>
          </a:solidFill>
          <a:ln/>
        </p:spPr>
      </p:sp>
      <p:sp>
        <p:nvSpPr>
          <p:cNvPr id="7" name="Shape 5"/>
          <p:cNvSpPr/>
          <p:nvPr/>
        </p:nvSpPr>
        <p:spPr>
          <a:xfrm>
            <a:off x="2852928" y="4114800"/>
            <a:ext cx="640080" cy="68580"/>
          </a:xfrm>
          <a:prstGeom prst="rect">
            <a:avLst/>
          </a:prstGeom>
          <a:solidFill>
            <a:srgbClr val="0E9187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5720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PRESENTADO A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66928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Concejala María Gabriela Mobilia Rodríguez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66928" y="523036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La Libertad Avanza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Honorable Concejo Deliberante de Morón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19088" y="4572000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19088" y="48463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Omar Guillen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19088" y="523036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Licenciado en Psicología Social · Vecino de Morón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B9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2180 7303 · guillengus@yahoo.com.ar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66928" y="619963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E82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completa  ·  Julio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IDEA, EN UNA FRASE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371600"/>
            <a:ext cx="1032631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 despacho le llegan reclamos todos los días.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 queda es el registro de qué pasó con cada uno.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3383280"/>
            <a:ext cx="868039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piloto propone probar durante noventa días una herramienta simple para resolver eso. No es un área nueva, no es una estructura y no requiere presupuesto ni personal permanente. Funciona con una planilla de cálculo, un formulario y unas pocas reuniones.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4892040"/>
            <a:ext cx="11057839" cy="1051560"/>
          </a:xfrm>
          <a:prstGeom prst="roundRect">
            <a:avLst>
              <a:gd name="adj" fmla="val 6087"/>
            </a:avLst>
          </a:prstGeom>
          <a:solidFill>
            <a:srgbClr val="F4F6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78408" y="50292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E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978408" y="57790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de prueba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858768" y="50292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4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858768" y="57790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por caso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693408" y="502920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0E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 5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6693408" y="577900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de proyecto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619488" y="50292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</a:t>
            </a:r>
            <a:endParaRPr lang="en-US" sz="4600" dirty="0"/>
          </a:p>
        </p:txBody>
      </p:sp>
      <p:sp>
        <p:nvSpPr>
          <p:cNvPr id="13" name="Text 11"/>
          <p:cNvSpPr/>
          <p:nvPr/>
        </p:nvSpPr>
        <p:spPr>
          <a:xfrm>
            <a:off x="9619488" y="57790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directo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CONCRETO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registro pasan tres cosas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78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problema de voluntad ni de prolijidad: pasa en cualquier despacho que trabaja.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03066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76200" dist="381" dir="5400000">
              <a:srgbClr val="9AA7B8">
                <a:alpha val="2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2386584"/>
            <a:ext cx="402336" cy="402336"/>
          </a:xfrm>
          <a:prstGeom prst="ellipse">
            <a:avLst/>
          </a:prstGeom>
          <a:solidFill>
            <a:srgbClr val="2E68A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35024" y="2404872"/>
            <a:ext cx="24972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ve el patrón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2990088"/>
            <a:ext cx="29544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en un mes llegaron doce pedidos por alumbrado de la misma zona, eso es un tema legislativo. Repartidos en cuatro teléfonos, nadie ve los doce: cada uno ve tres y le parece un caso aislado.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4314" y="2148840"/>
            <a:ext cx="3503066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76200" dist="381" dir="5400000">
              <a:srgbClr val="9AA7B8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82058" y="2386584"/>
            <a:ext cx="402336" cy="402336"/>
          </a:xfrm>
          <a:prstGeom prst="ellipse">
            <a:avLst/>
          </a:prstGeom>
          <a:solidFill>
            <a:srgbClr val="C46B16"/>
          </a:solidFill>
          <a:ln/>
        </p:spPr>
      </p:sp>
      <p:sp>
        <p:nvSpPr>
          <p:cNvPr id="12" name="Text 10"/>
          <p:cNvSpPr/>
          <p:nvPr/>
        </p:nvSpPr>
        <p:spPr>
          <a:xfrm>
            <a:off x="4582058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112410" y="2404872"/>
            <a:ext cx="24972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pierde el seguimiento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8634" y="2990088"/>
            <a:ext cx="29544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vecino plantea algo, se hace la gestión, y tres semanas después nadie sabe con certeza en qué quedó. Porque no hay un lugar donde esté anotado el estado.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21701" y="2148840"/>
            <a:ext cx="3503066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76200" dist="381" dir="5400000">
              <a:srgbClr val="9AA7B8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59445" y="2386584"/>
            <a:ext cx="402336" cy="402336"/>
          </a:xfrm>
          <a:prstGeom prst="ellipse">
            <a:avLst/>
          </a:prstGeom>
          <a:solidFill>
            <a:srgbClr val="0E9187"/>
          </a:solidFill>
          <a:ln/>
        </p:spPr>
      </p:sp>
      <p:sp>
        <p:nvSpPr>
          <p:cNvPr id="17" name="Text 15"/>
          <p:cNvSpPr/>
          <p:nvPr/>
        </p:nvSpPr>
        <p:spPr>
          <a:xfrm>
            <a:off x="8359445" y="23865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889797" y="2404872"/>
            <a:ext cx="24972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trabajo no se puede mostrar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96021" y="2990088"/>
            <a:ext cx="2954426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hay que rendir cuentas de lo actuado, hay que reconstruir de memoria algo que se hizo bien pero no se anotó.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DATO DE CONTEXTO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Morón la demanda no bajó: se dispersó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5346040" cy="2286000"/>
          </a:xfrm>
          <a:prstGeom prst="roundRect">
            <a:avLst>
              <a:gd name="adj" fmla="val 2800"/>
            </a:avLst>
          </a:prstGeom>
          <a:solidFill>
            <a:srgbClr val="F4F6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32688" y="2331720"/>
            <a:ext cx="461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reclamos se están yendo a los grupos de WhatsApp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32688" y="3200400"/>
            <a:ext cx="461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Diario Anticipos reportó en mayo de 2026 que los vecinos de Morón canalizan cada vez más sus reclamos por grupos de mensajería y redes antes que por las vías tradicionales.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78728" y="2011680"/>
            <a:ext cx="5346040" cy="2286000"/>
          </a:xfrm>
          <a:prstGeom prst="roundRect">
            <a:avLst>
              <a:gd name="adj" fmla="val 2800"/>
            </a:avLst>
          </a:prstGeom>
          <a:solidFill>
            <a:srgbClr val="F4F6F9"/>
          </a:solidFill>
          <a:ln w="12700">
            <a:solidFill>
              <a:srgbClr val="D6DC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4488" y="2331720"/>
            <a:ext cx="461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9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el canal formal territorial se achicó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644488" y="3200400"/>
            <a:ext cx="4614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Ese mismo mes, un concejal denunció públicamente el cierre y la fusión de Unidades de Gestión Comunitaria, las oficinas territoriales descentralizadas del municipio.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66928" y="4663440"/>
            <a:ext cx="11057839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C4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Cuanto más dispersa está la demanda, más valor tiene ordenarla.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66928" y="6382512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Diario Anticipos, 10 y 14 de mayo de 2026. Versión periodística, no dato oficial.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YA EXISTE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hueco que ocupa el piloto es chico</a:t>
            </a:r>
            <a:endParaRPr lang="en-US" sz="3200" dirty="0"/>
          </a:p>
        </p:txBody>
      </p:sp>
      <p:pic>
        <p:nvPicPr>
          <p:cNvPr id="4" name="Image 0" descr="/home/claude/proyecto/fig/f3-posic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519" y="1691640"/>
            <a:ext cx="10120657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FUNCIONA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un mensaje suelto a un expediente</a:t>
            </a:r>
            <a:endParaRPr lang="en-US" sz="3200" dirty="0"/>
          </a:p>
        </p:txBody>
      </p:sp>
      <p:pic>
        <p:nvPicPr>
          <p:cNvPr id="4" name="Image 0" descr="/home/claude/proyecto/fig/f2-circui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7148" y="1645920"/>
            <a:ext cx="8577399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NOVENTA DÍAS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etapa cierra con algo entregado</a:t>
            </a:r>
            <a:endParaRPr lang="en-US" sz="3200" dirty="0"/>
          </a:p>
        </p:txBody>
      </p:sp>
      <p:pic>
        <p:nvPicPr>
          <p:cNvPr id="4" name="Image 0" descr="/home/claude/proyecto/fig/f1-cr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31647" y="1600200"/>
            <a:ext cx="7128401" cy="48920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DÍA A DÍA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Poco trabajo, pero todos los días</a:t>
            </a:r>
            <a:endParaRPr lang="en-US" sz="3200" dirty="0"/>
          </a:p>
        </p:txBody>
      </p:sp>
      <p:pic>
        <p:nvPicPr>
          <p:cNvPr id="4" name="Image 0" descr="/home/claude/proyecto/fig/f10-ritm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294687"/>
            <a:ext cx="11057839" cy="36859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5074920"/>
            <a:ext cx="1105783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alguna de las cuatro se saltea dos veces seguidas, el programa está fallando y hay que corregirlo.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PRODUCE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queda en poder del despacho</a:t>
            </a:r>
            <a:endParaRPr lang="en-US" sz="3200" dirty="0"/>
          </a:p>
        </p:txBody>
      </p:sp>
      <p:pic>
        <p:nvPicPr>
          <p:cNvPr id="4" name="Image 0" descr="/home/claude/proyecto/fig/f4-entregabl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92466"/>
            <a:ext cx="11057839" cy="45532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DECIDE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orden no lo decide una intuición</a:t>
            </a:r>
            <a:endParaRPr lang="en-US" sz="3200" dirty="0"/>
          </a:p>
        </p:txBody>
      </p:sp>
      <p:pic>
        <p:nvPicPr>
          <p:cNvPr id="4" name="Image 0" descr="/home/claude/proyecto/fig/f8-matriz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3490" y="1737360"/>
            <a:ext cx="10704715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MIDE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miden contando filas de una planilla</a:t>
            </a:r>
            <a:endParaRPr lang="en-US" sz="3200" dirty="0"/>
          </a:p>
        </p:txBody>
      </p:sp>
      <p:pic>
        <p:nvPicPr>
          <p:cNvPr id="4" name="Image 0" descr="/home/claude/proyecto/fig/f5-indicador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305" y="1691640"/>
            <a:ext cx="9993086" cy="46634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0E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PROTECCIÓN DE DATOS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organizan problemas, no personas</a:t>
            </a:r>
            <a:endParaRPr lang="en-US" sz="3200" dirty="0"/>
          </a:p>
        </p:txBody>
      </p:sp>
      <p:pic>
        <p:nvPicPr>
          <p:cNvPr id="4" name="Image 0" descr="/home/claude/proyecto/fig/f9-da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1948" y="1691640"/>
            <a:ext cx="906780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EVALÚA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evaluación no depende de impresiones</a:t>
            </a:r>
            <a:endParaRPr lang="en-US" sz="3200" dirty="0"/>
          </a:p>
        </p:txBody>
      </p:sp>
      <p:pic>
        <p:nvPicPr>
          <p:cNvPr id="4" name="Image 0" descr="/home/claude/proyecto/fig/f6-continuida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432" y="1737360"/>
            <a:ext cx="10466832" cy="46177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2E6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NECESITA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opciones, y se propone la primera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6928" y="2011680"/>
            <a:ext cx="3503066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76200" dist="381" dir="5400000">
              <a:srgbClr val="9AA7B8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41248" y="2267712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mínima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2852928"/>
            <a:ext cx="295442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recursos que ya existen. Herramientas gratuitas, coordinación parcial, sin estructura nueva, sin contrataciones y sin costo directo.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que se propone para el piloto.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41248" y="4617720"/>
            <a:ext cx="1600200" cy="310896"/>
          </a:xfrm>
          <a:prstGeom prst="roundRect">
            <a:avLst>
              <a:gd name="adj" fmla="val 50000"/>
            </a:avLst>
          </a:prstGeom>
          <a:solidFill>
            <a:srgbClr val="DFF0EE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4617720"/>
            <a:ext cx="1600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E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PROPONE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44314" y="2011680"/>
            <a:ext cx="3503066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76200" dist="381" dir="5400000">
              <a:srgbClr val="9AA7B8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618634" y="2267712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intermedia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18634" y="2852928"/>
            <a:ext cx="295442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el volumen lo justifica: algunas horas semanales de coordinación, apoyo administrativo y pequeños costos operativos.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evaluaría al cierre del primer mes, con números.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1701" y="2011680"/>
            <a:ext cx="3503066" cy="3108960"/>
          </a:xfrm>
          <a:prstGeom prst="roundRect">
            <a:avLst>
              <a:gd name="adj" fmla="val 2059"/>
            </a:avLst>
          </a:prstGeom>
          <a:solidFill>
            <a:srgbClr val="FFFFFF"/>
          </a:solidFill>
          <a:ln w="12700">
            <a:solidFill>
              <a:srgbClr val="D6DCE5"/>
            </a:solidFill>
            <a:prstDash val="solid"/>
          </a:ln>
          <a:effectLst>
            <a:outerShdw sx="100000" sy="100000" kx="0" ky="0" algn="bl" rotWithShape="0" blurRad="76200" dist="381" dir="5400000">
              <a:srgbClr val="9AA7B8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96021" y="2267712"/>
            <a:ext cx="295442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Opción ampliada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96021" y="2852928"/>
            <a:ext cx="295442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si el piloto demuestra resultados contra los cinco criterios. Implicaría formalizar el instrumento por ordenanza.</a:t>
            </a: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endParaRPr lang="en-US" sz="125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Antecedente: Villa Gobernador Gálvez, Ordenanza 3.164/2025.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TERRITORIO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viene la demanda</a:t>
            </a:r>
            <a:endParaRPr lang="en-US" sz="3200" dirty="0"/>
          </a:p>
        </p:txBody>
      </p:sp>
      <p:pic>
        <p:nvPicPr>
          <p:cNvPr id="4" name="Image 0" descr="/home/claude/proyecto/fig/f7-localidad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792466"/>
            <a:ext cx="11057839" cy="455322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46B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CASO, DE PUNTA A PUNTA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7839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Alumbrado en El Palomar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1389888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8A97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de fondo está documentado en fuentes públicas. El caso individual es hipotético y sirve para mostrar el circuito.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365760" cy="365760"/>
          </a:xfrm>
          <a:prstGeom prst="ellipse">
            <a:avLst/>
          </a:prstGeom>
          <a:solidFill>
            <a:srgbClr val="2E68AE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874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33856" y="185623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Llega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584448" y="1856232"/>
            <a:ext cx="8040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vecina avisa por WhatsApp: siete columnas apagadas en cuatro cuadras. Ya lo cargó en la app hace un mes y no tuvo respuesta.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0664" y="2258568"/>
            <a:ext cx="18288" cy="402336"/>
          </a:xfrm>
          <a:prstGeom prst="rect">
            <a:avLst/>
          </a:prstGeom>
          <a:solidFill>
            <a:srgbClr val="D6DCE5"/>
          </a:solidFill>
          <a:ln/>
        </p:spPr>
      </p:sp>
      <p:sp>
        <p:nvSpPr>
          <p:cNvPr id="10" name="Shape 8"/>
          <p:cNvSpPr/>
          <p:nvPr/>
        </p:nvSpPr>
        <p:spPr>
          <a:xfrm>
            <a:off x="566928" y="2660904"/>
            <a:ext cx="365760" cy="365760"/>
          </a:xfrm>
          <a:prstGeom prst="ellipse">
            <a:avLst/>
          </a:prstGeom>
          <a:solidFill>
            <a:srgbClr val="2E68AE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6609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33856" y="264261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registra y se cruza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84448" y="2642616"/>
            <a:ext cx="8040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0087/2026. Al cargarlo aparecen otros once casos de alumbrado en la misma localidad. Deja de ser un caso individual.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" y="3044952"/>
            <a:ext cx="18288" cy="402336"/>
          </a:xfrm>
          <a:prstGeom prst="rect">
            <a:avLst/>
          </a:prstGeom>
          <a:solidFill>
            <a:srgbClr val="D6DCE5"/>
          </a:solidFill>
          <a:ln/>
        </p:spPr>
      </p:sp>
      <p:sp>
        <p:nvSpPr>
          <p:cNvPr id="15" name="Shape 13"/>
          <p:cNvSpPr/>
          <p:nvPr/>
        </p:nvSpPr>
        <p:spPr>
          <a:xfrm>
            <a:off x="566928" y="3447288"/>
            <a:ext cx="365760" cy="365760"/>
          </a:xfrm>
          <a:prstGeom prst="ellipse">
            <a:avLst/>
          </a:prstGeom>
          <a:solidFill>
            <a:srgbClr val="C46B16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4472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33856" y="34290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prioriza y se escribe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84448" y="3429000"/>
            <a:ext cx="8040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Matriz: 3 + 3 + 3 + 2 = 11 sobre 12. Queda primero. Se completa la ficha de una carilla con dos vías de acción.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40664" y="3831336"/>
            <a:ext cx="18288" cy="402336"/>
          </a:xfrm>
          <a:prstGeom prst="rect">
            <a:avLst/>
          </a:prstGeom>
          <a:solidFill>
            <a:srgbClr val="D6DCE5"/>
          </a:solidFill>
          <a:ln/>
        </p:spPr>
      </p:sp>
      <p:sp>
        <p:nvSpPr>
          <p:cNvPr id="20" name="Shape 18"/>
          <p:cNvSpPr/>
          <p:nvPr/>
        </p:nvSpPr>
        <p:spPr>
          <a:xfrm>
            <a:off x="566928" y="4233672"/>
            <a:ext cx="365760" cy="365760"/>
          </a:xfrm>
          <a:prstGeom prst="ellipse">
            <a:avLst/>
          </a:prstGeom>
          <a:solidFill>
            <a:srgbClr val="0E9187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2336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33856" y="421538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presenta y se sigue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584448" y="4215384"/>
            <a:ext cx="8040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comunicación pidiendo informes al Ejecutivo. Número de expediente, giro a comisión, respuesta o silencio: todo anotado.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40664" y="4617720"/>
            <a:ext cx="18288" cy="402336"/>
          </a:xfrm>
          <a:prstGeom prst="rect">
            <a:avLst/>
          </a:prstGeom>
          <a:solidFill>
            <a:srgbClr val="D6DCE5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5020056"/>
            <a:ext cx="365760" cy="365760"/>
          </a:xfrm>
          <a:prstGeom prst="ellipse">
            <a:avLst/>
          </a:prstGeom>
          <a:solidFill>
            <a:srgbClr val="0E9187"/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5020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33856" y="500176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24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devuelve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3584448" y="5001768"/>
            <a:ext cx="804031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4A5C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vecina recibe un mensaje con el número de expediente. Si no hay respuesta, también se le avisa.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2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783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PRÓXIMO PASO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66928" y="1463040"/>
            <a:ext cx="9686239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reunión de trabajo</a:t>
            </a:r>
            <a:endParaRPr lang="en-US" sz="38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veinte a treinta minutos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66928" y="3383280"/>
            <a:ext cx="785743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B9C7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evaluar la conveniencia de adaptar y poner a prueba el programa durante un período inicial de noventa días.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66928" y="4480560"/>
            <a:ext cx="11057839" cy="1051560"/>
          </a:xfrm>
          <a:prstGeom prst="roundRect">
            <a:avLst>
              <a:gd name="adj" fmla="val 6087"/>
            </a:avLst>
          </a:prstGeom>
          <a:solidFill>
            <a:srgbClr val="1E3050"/>
          </a:solidFill>
          <a:ln w="12700">
            <a:solidFill>
              <a:srgbClr val="2E446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4480560"/>
            <a:ext cx="1032631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solicita la creación de un cargo.        No se solicita presupuesto.        No se solicita personal.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66928" y="6126480"/>
            <a:ext cx="1105783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3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Gustavo Omar Guillen  ·  11 2180 7303  ·  guillengus@yahoo.com.ar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Partido de Morón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 Piloto de Registro y Seguimiento de Propuestas Vecinales</dc:title>
  <dc:subject>PptxGenJS Presentation</dc:subject>
  <dc:creator>Gustavo Omar Guillen</dc:creator>
  <cp:lastModifiedBy>Gustavo Omar Guillen</cp:lastModifiedBy>
  <cp:revision>1</cp:revision>
  <dcterms:created xsi:type="dcterms:W3CDTF">2026-07-31T17:42:00Z</dcterms:created>
  <dcterms:modified xsi:type="dcterms:W3CDTF">2026-07-31T17:42:00Z</dcterms:modified>
</cp:coreProperties>
</file>